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dc1351e-23e9-bd4c-106a-76cc50b7585e}">
          <p14:sldIdLst>
            <p14:sldId id="256"/>
            <p14:sldId id="257"/>
            <p14:sldId id="258"/>
          </p14:sldIdLst>
        </p14:section>
        <p14:section name="Data Preparation" id="{ce08d7e2-aca3-1434-8529-dfc0960b33ab}">
          <p14:sldIdLst>
            <p14:sldId id="259"/>
            <p14:sldId id="260"/>
          </p14:sldIdLst>
        </p14:section>
        <p14:section name="Modelling" id="{707cac36-452b-41c6-2c67-50f6097fac55}">
          <p14:sldIdLst>
            <p14:sldId id="261"/>
            <p14:sldId id="262"/>
            <p14:sldId id="263"/>
            <p14:sldId id="264"/>
          </p14:sldIdLst>
        </p14:section>
        <p14:section name="Results" id="{7542b86a-a833-d351-cf2d-3a4baf38f482}">
          <p14:sldIdLst>
            <p14:sldId id="265"/>
            <p14:sldId id="266"/>
          </p14:sldIdLst>
        </p14:section>
        <p14:section name="Wrap-up" id="{c5dfa315-e732-406c-7bb7-672dd54a48ba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3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SentimentHeadline</c:v>
                  </c:pt>
                  <c:pt idx="1">
                    <c:v>IDLink</c:v>
                  </c:pt>
                  <c:pt idx="2">
                    <c:v>LinkedIn</c:v>
                  </c:pt>
                  <c:pt idx="3">
                    <c:v>Facebook</c:v>
                  </c:pt>
                  <c:pt idx="4">
                    <c:v>GooglePlus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0.1836</c:v>
                </c:pt>
                <c:pt idx="1">
                  <c:v>0.005</c:v>
                </c:pt>
                <c:pt idx="2">
                  <c:v>0.0034</c:v>
                </c:pt>
                <c:pt idx="3">
                  <c:v>-0.0038</c:v>
                </c:pt>
                <c:pt idx="4">
                  <c:v>-0.0103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41A3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A3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-0.0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3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</c:v>
                  </c:pt>
                  <c:pt idx="1">
                    <c:v>Gradient Boost</c:v>
                  </c:pt>
                  <c:pt idx="2">
                    <c:v>Random Forest</c:v>
                  </c:pt>
                  <c:pt idx="3">
                    <c:v>Decision Tree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0.3301</c:v>
                </c:pt>
                <c:pt idx="1">
                  <c:v>0.2544</c:v>
                </c:pt>
                <c:pt idx="2">
                  <c:v>0.2463</c:v>
                </c:pt>
                <c:pt idx="3">
                  <c:v>0.2248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41A3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A3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ABINAYA S   |   III BCA A   |   News Popularity in Multiple Social Media Platforms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ABINAYA S   |   III BCA A   |   News Popularity in Multiple Social Media Platforms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er ring"/>
          <p:cNvSpPr/>
          <p:nvPr/>
        </p:nvSpPr>
        <p:spPr>
          <a:xfrm>
            <a:off x="8412480" y="1097280"/>
            <a:ext cx="3840480" cy="384048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63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3" name="Cover circle"/>
          <p:cNvSpPr/>
          <p:nvPr/>
        </p:nvSpPr>
        <p:spPr>
          <a:xfrm>
            <a:off x="9052560" y="1737360"/>
            <a:ext cx="2560320" cy="2560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" name="Cover icon" descr="Newspap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4688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MINI PROJECT  |  MACHINE LEARNING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46304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Popularity in Multiple Social Media Platforms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40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Predicting the sentiment of news titles using regression models</a:t>
            </a:r>
            <a:endParaRPr lang="en-US" sz="1800" dirty="0"/>
          </a:p>
        </p:txBody>
      </p:sp>
      <p:sp>
        <p:nvSpPr>
          <p:cNvPr id="8" name="Name box"/>
          <p:cNvSpPr/>
          <p:nvPr/>
        </p:nvSpPr>
        <p:spPr>
          <a:xfrm>
            <a:off x="731520" y="4846320"/>
            <a:ext cx="36576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NAME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5303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ABINAYA S</a:t>
            </a:r>
            <a:endParaRPr lang="en-US" sz="2400" dirty="0"/>
          </a:p>
        </p:txBody>
      </p:sp>
      <p:sp>
        <p:nvSpPr>
          <p:cNvPr id="11" name="Class box"/>
          <p:cNvSpPr/>
          <p:nvPr/>
        </p:nvSpPr>
        <p:spPr>
          <a:xfrm>
            <a:off x="4663440" y="4846320"/>
            <a:ext cx="36576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9377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CLASS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5303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III BCA 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About My Dataset</a:t>
            </a:r>
            <a:endParaRPr lang="en-US" sz="3600" dirty="0"/>
          </a:p>
        </p:txBody>
      </p:sp>
      <p:sp>
        <p:nvSpPr>
          <p:cNvPr id="3" name="Dataset card"/>
          <p:cNvSpPr/>
          <p:nvPr/>
        </p:nvSpPr>
        <p:spPr>
          <a:xfrm>
            <a:off x="548640" y="1463040"/>
            <a:ext cx="667512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Database icon circle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Database icon" descr="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98059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UCI Machine Learning Repository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194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Source of the dataset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88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“News Popularity in Multiple Social Media Platforms” collects news items together with how widely each one was shared online.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Article title and headline 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Publisher (source) and topic, e.g. economy, Obama, Microsoft, Palestine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Publish date and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Sentiment scores for title and headline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Popularity: share counts on Facebook, Google+ and LinkedIn</a:t>
            </a:r>
            <a:endParaRPr lang="en-US" sz="1500" dirty="0"/>
          </a:p>
        </p:txBody>
      </p:sp>
      <p:sp>
        <p:nvSpPr>
          <p:cNvPr id="10" name="Stat card 1"/>
          <p:cNvSpPr/>
          <p:nvPr/>
        </p:nvSpPr>
        <p:spPr>
          <a:xfrm>
            <a:off x="7498080" y="1463040"/>
            <a:ext cx="414223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tat icon 1 circle"/>
          <p:cNvSpPr/>
          <p:nvPr/>
        </p:nvSpPr>
        <p:spPr>
          <a:xfrm>
            <a:off x="7772400" y="173736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Stat icon 1" descr="Stat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255" y="1947215"/>
            <a:ext cx="357530" cy="3575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7824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93,239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8778240" y="2267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News records</a:t>
            </a:r>
            <a:endParaRPr lang="en-US" sz="1500" dirty="0"/>
          </a:p>
        </p:txBody>
      </p:sp>
      <p:sp>
        <p:nvSpPr>
          <p:cNvPr id="15" name="Stat card 2"/>
          <p:cNvSpPr/>
          <p:nvPr/>
        </p:nvSpPr>
        <p:spPr>
          <a:xfrm>
            <a:off x="7498080" y="3063240"/>
            <a:ext cx="414223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tat icon 2 circle"/>
          <p:cNvSpPr/>
          <p:nvPr/>
        </p:nvSpPr>
        <p:spPr>
          <a:xfrm>
            <a:off x="7772400" y="333756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Stat icon 2" descr="Stat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255" y="354741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0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0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Columns (features)</a:t>
            </a:r>
            <a:endParaRPr lang="en-US" sz="1500" dirty="0"/>
          </a:p>
        </p:txBody>
      </p:sp>
      <p:sp>
        <p:nvSpPr>
          <p:cNvPr id="20" name="Stat card 3"/>
          <p:cNvSpPr/>
          <p:nvPr/>
        </p:nvSpPr>
        <p:spPr>
          <a:xfrm>
            <a:off x="7498080" y="4663440"/>
            <a:ext cx="414223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tat icon 3 circle"/>
          <p:cNvSpPr/>
          <p:nvPr/>
        </p:nvSpPr>
        <p:spPr>
          <a:xfrm>
            <a:off x="7772400" y="493776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Stat icon 3" descr="Stat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255" y="5147615"/>
            <a:ext cx="357530" cy="35753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78240" y="4800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18"/>
          <p:cNvSpPr txBox="1"/>
          <p:nvPr/>
        </p:nvSpPr>
        <p:spPr>
          <a:xfrm>
            <a:off x="8778240" y="5468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Social media platforms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Shape of My Dataset</a:t>
            </a:r>
            <a:endParaRPr lang="en-US" sz="3600" dirty="0"/>
          </a:p>
        </p:txBody>
      </p:sp>
      <p:sp>
        <p:nvSpPr>
          <p:cNvPr id="3" name="Shape card"/>
          <p:cNvSpPr/>
          <p:nvPr/>
        </p:nvSpPr>
        <p:spPr>
          <a:xfrm>
            <a:off x="54864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DATASET SHAPE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93,239 × 11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rows × columns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Rows: 93,239 news records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Columns: 11 features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Types: 3 float, 3 integer, 5 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Memory: about 7.8 MB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463040"/>
          <a:ext cx="72054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096512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article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article 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text snippet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 of the article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Subject, e.g. economy, obama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and time published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of title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SentimentHeadline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of headline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count on Facebook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count on Google+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count on LinkedIn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 Cleaning</a:t>
            </a:r>
            <a:endParaRPr lang="en-US" sz="3600" dirty="0"/>
          </a:p>
        </p:txBody>
      </p:sp>
      <p:sp>
        <p:nvSpPr>
          <p:cNvPr id="3" name="Cleaning card 1"/>
          <p:cNvSpPr/>
          <p:nvPr/>
        </p:nvSpPr>
        <p:spPr>
          <a:xfrm>
            <a:off x="548640" y="14630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Missing Values 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Missing Values icon" descr="Missing Valu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19929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Missing Values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Headline: 15 missing, filled with empty 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Source: 279 missing, filled with “Unknown”</a:t>
            </a:r>
            <a:endParaRPr lang="en-US" sz="1500" dirty="0"/>
          </a:p>
        </p:txBody>
      </p:sp>
      <p:sp>
        <p:nvSpPr>
          <p:cNvPr id="8" name="Cleaning card 2"/>
          <p:cNvSpPr/>
          <p:nvPr/>
        </p:nvSpPr>
        <p:spPr>
          <a:xfrm>
            <a:off x="4357116" y="14630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Duplicate Rows icon circle"/>
          <p:cNvSpPr/>
          <p:nvPr/>
        </p:nvSpPr>
        <p:spPr>
          <a:xfrm>
            <a:off x="4677156" y="1783080"/>
            <a:ext cx="777240" cy="7772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0" name="Duplicate Rows icon" descr="Duplicate Row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011" y="199293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77156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Duplicate Rows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77156" y="3246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 duplicate rows detected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Removed using drop_duplicates()</a:t>
            </a:r>
            <a:endParaRPr lang="en-US" sz="1500" dirty="0"/>
          </a:p>
        </p:txBody>
      </p:sp>
      <p:sp>
        <p:nvSpPr>
          <p:cNvPr id="13" name="Cleaning card 3"/>
          <p:cNvSpPr/>
          <p:nvPr/>
        </p:nvSpPr>
        <p:spPr>
          <a:xfrm>
            <a:off x="8165592" y="14630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Verification icon circle"/>
          <p:cNvSpPr/>
          <p:nvPr/>
        </p:nvSpPr>
        <p:spPr>
          <a:xfrm>
            <a:off x="8485632" y="1783080"/>
            <a:ext cx="777240" cy="7772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5" name="Verification icon" descr="Verifica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487" y="1992935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85632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Verification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85632" y="3246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0 missing values in every column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93,235 clean records retained</a:t>
            </a:r>
            <a:endParaRPr lang="en-US" sz="1500" dirty="0"/>
          </a:p>
        </p:txBody>
      </p:sp>
      <p:sp>
        <p:nvSpPr>
          <p:cNvPr id="18" name="Result banner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9144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SHAPE AFTER CLEANING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5303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93,235 × 11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0" y="50292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Rows reduced from 93,239 to 93,235 after removing duplicates; all 11 columns kept.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Exploratory Data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 variable: SentimentTitle</a:t>
            </a:r>
            <a:endParaRPr lang="en-US" sz="1800" dirty="0"/>
          </a:p>
        </p:txBody>
      </p:sp>
      <p:sp>
        <p:nvSpPr>
          <p:cNvPr id="4" name="Stat Count"/>
          <p:cNvSpPr/>
          <p:nvPr/>
        </p:nvSpPr>
        <p:spPr>
          <a:xfrm>
            <a:off x="548640" y="192024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Count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93,235</a:t>
            </a:r>
            <a:endParaRPr lang="en-US" sz="2800" dirty="0"/>
          </a:p>
        </p:txBody>
      </p:sp>
      <p:sp>
        <p:nvSpPr>
          <p:cNvPr id="7" name="Stat Mean"/>
          <p:cNvSpPr/>
          <p:nvPr/>
        </p:nvSpPr>
        <p:spPr>
          <a:xfrm>
            <a:off x="3200400" y="192024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−0.0054</a:t>
            </a:r>
            <a:endParaRPr lang="en-US" sz="2800" dirty="0"/>
          </a:p>
        </p:txBody>
      </p:sp>
      <p:sp>
        <p:nvSpPr>
          <p:cNvPr id="10" name="Stat Std. deviation"/>
          <p:cNvSpPr/>
          <p:nvPr/>
        </p:nvSpPr>
        <p:spPr>
          <a:xfrm>
            <a:off x="548640" y="333756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502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Std. deviation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0.1364</a:t>
            </a:r>
            <a:endParaRPr lang="en-US" sz="2800" dirty="0"/>
          </a:p>
        </p:txBody>
      </p:sp>
      <p:sp>
        <p:nvSpPr>
          <p:cNvPr id="13" name="Stat Median"/>
          <p:cNvSpPr/>
          <p:nvPr/>
        </p:nvSpPr>
        <p:spPr>
          <a:xfrm>
            <a:off x="3200400" y="333756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29000" y="3502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Median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2800" dirty="0"/>
          </a:p>
        </p:txBody>
      </p:sp>
      <p:sp>
        <p:nvSpPr>
          <p:cNvPr id="16" name="Stat Minimum"/>
          <p:cNvSpPr/>
          <p:nvPr/>
        </p:nvSpPr>
        <p:spPr>
          <a:xfrm>
            <a:off x="548640" y="475488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Minimum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12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−0.9507</a:t>
            </a:r>
            <a:endParaRPr lang="en-US" sz="2800" dirty="0"/>
          </a:p>
        </p:txBody>
      </p:sp>
      <p:sp>
        <p:nvSpPr>
          <p:cNvPr id="19" name="Stat Maximum"/>
          <p:cNvSpPr/>
          <p:nvPr/>
        </p:nvSpPr>
        <p:spPr>
          <a:xfrm>
            <a:off x="3200400" y="475488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2900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Maximum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5212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0.9624</a:t>
            </a:r>
            <a:endParaRPr lang="en-US" sz="2800" dirty="0"/>
          </a:p>
        </p:txBody>
      </p:sp>
      <p:sp>
        <p:nvSpPr>
          <p:cNvPr id="22" name="Correlation card"/>
          <p:cNvSpPr/>
          <p:nvPr/>
        </p:nvSpPr>
        <p:spPr>
          <a:xfrm>
            <a:off x="5943600" y="1463040"/>
            <a:ext cx="5696712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636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Correlation with SentimentTitle</a:t>
            </a:r>
            <a:endParaRPr lang="en-US" sz="1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172200" y="2057400"/>
          <a:ext cx="5257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263640" y="48920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SentimentHeadline is the only noticeable link (0.18). Share counts show almost no direct linear correlation.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Train–Test Split</a:t>
            </a:r>
            <a:endParaRPr lang="en-US" sz="3600" dirty="0"/>
          </a:p>
        </p:txBody>
      </p:sp>
      <p:sp>
        <p:nvSpPr>
          <p:cNvPr id="3" name="Features card"/>
          <p:cNvSpPr/>
          <p:nvPr/>
        </p:nvSpPr>
        <p:spPr>
          <a:xfrm>
            <a:off x="548640" y="141732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plit icon circl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Split icon" descr="Spli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4343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554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Cleaned data: 93,235 rows. Input X has 6 columns (Title, Headline, SentimentHeadline, Facebook_log, GooglePlus_log, LinkedIn_log); target y is SentimentTitle.</a:t>
            </a:r>
            <a:endParaRPr lang="en-US" sz="1600" dirty="0"/>
          </a:p>
        </p:txBody>
      </p:sp>
      <p:sp>
        <p:nvSpPr>
          <p:cNvPr id="7" name="Train box"/>
          <p:cNvSpPr/>
          <p:nvPr/>
        </p:nvSpPr>
        <p:spPr>
          <a:xfrm>
            <a:off x="548640" y="2880360"/>
            <a:ext cx="8650224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TRAINING SET  ·  80%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74,588 rows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test_size = 0.20,  random_state = 42</a:t>
            </a:r>
            <a:endParaRPr lang="en-US" sz="1400" dirty="0"/>
          </a:p>
        </p:txBody>
      </p:sp>
      <p:sp>
        <p:nvSpPr>
          <p:cNvPr id="11" name="Test box"/>
          <p:cNvSpPr/>
          <p:nvPr/>
        </p:nvSpPr>
        <p:spPr>
          <a:xfrm>
            <a:off x="9473184" y="2880360"/>
            <a:ext cx="2167128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6926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TEST SET  ·  20%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18,647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rows</a:t>
            </a:r>
            <a:endParaRPr lang="en-US" sz="1400" dirty="0"/>
          </a:p>
        </p:txBody>
      </p:sp>
      <p:sp>
        <p:nvSpPr>
          <p:cNvPr id="15" name="Shape X_train"/>
          <p:cNvSpPr/>
          <p:nvPr/>
        </p:nvSpPr>
        <p:spPr>
          <a:xfrm>
            <a:off x="548640" y="4526280"/>
            <a:ext cx="2587752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X_train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166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(74,588, 6)</a:t>
            </a:r>
            <a:endParaRPr lang="en-US" sz="2400" dirty="0"/>
          </a:p>
        </p:txBody>
      </p:sp>
      <p:sp>
        <p:nvSpPr>
          <p:cNvPr id="18" name="Shape X_test"/>
          <p:cNvSpPr/>
          <p:nvPr/>
        </p:nvSpPr>
        <p:spPr>
          <a:xfrm>
            <a:off x="3383280" y="4526280"/>
            <a:ext cx="2587752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657600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X_test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5166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(18,647, 6)</a:t>
            </a:r>
            <a:endParaRPr lang="en-US" sz="2400" dirty="0"/>
          </a:p>
        </p:txBody>
      </p:sp>
      <p:sp>
        <p:nvSpPr>
          <p:cNvPr id="21" name="Shape y_train"/>
          <p:cNvSpPr/>
          <p:nvPr/>
        </p:nvSpPr>
        <p:spPr>
          <a:xfrm>
            <a:off x="6217920" y="4526280"/>
            <a:ext cx="2587752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92240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y_train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5166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(74,588,)</a:t>
            </a:r>
            <a:endParaRPr lang="en-US" sz="2400" dirty="0"/>
          </a:p>
        </p:txBody>
      </p:sp>
      <p:sp>
        <p:nvSpPr>
          <p:cNvPr id="24" name="Shape y_test"/>
          <p:cNvSpPr/>
          <p:nvPr/>
        </p:nvSpPr>
        <p:spPr>
          <a:xfrm>
            <a:off x="9052560" y="4526280"/>
            <a:ext cx="2587752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9326880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y_test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326880" y="5166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(18,647,)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Feature Engineering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Log Transform icon 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Log Transform icon" descr="Log Transfor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92252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1737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 Transform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log1p on Facebook, GooglePlus, LinkedIn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Reduces skew in share counts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3407969" y="146304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F-IDF: Title icon circle"/>
          <p:cNvSpPr/>
          <p:nvPr/>
        </p:nvSpPr>
        <p:spPr>
          <a:xfrm>
            <a:off x="3682289" y="173736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TF-IDF: Title icon" descr="TF-IDF: Tit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455" y="192252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28209" y="1737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3682289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TF-IDF: Title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82289" y="3063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30,000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Words and word pairs, min_df = 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Fit on train only</a:t>
            </a:r>
            <a:endParaRPr lang="en-US" sz="1400" dirty="0"/>
          </a:p>
        </p:txBody>
      </p:sp>
      <p:sp>
        <p:nvSpPr>
          <p:cNvPr id="15" name="Step card 3"/>
          <p:cNvSpPr/>
          <p:nvPr/>
        </p:nvSpPr>
        <p:spPr>
          <a:xfrm>
            <a:off x="6267298" y="146304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F-IDF: Headline icon circle"/>
          <p:cNvSpPr/>
          <p:nvPr/>
        </p:nvSpPr>
        <p:spPr>
          <a:xfrm>
            <a:off x="6541618" y="173736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7" name="TF-IDF: Headline icon" descr="TF-IDF: Head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784" y="192252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87538" y="1737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6541618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TF-IDF: Headline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541618" y="3063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20,000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settings as title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set only transformed</a:t>
            </a:r>
            <a:endParaRPr lang="en-US" sz="1400" dirty="0"/>
          </a:p>
        </p:txBody>
      </p:sp>
      <p:sp>
        <p:nvSpPr>
          <p:cNvPr id="21" name="Step card 4"/>
          <p:cNvSpPr/>
          <p:nvPr/>
        </p:nvSpPr>
        <p:spPr>
          <a:xfrm>
            <a:off x="9126626" y="1463040"/>
            <a:ext cx="2606040" cy="3063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Combine icon circle"/>
          <p:cNvSpPr/>
          <p:nvPr/>
        </p:nvSpPr>
        <p:spPr>
          <a:xfrm>
            <a:off x="9400946" y="173736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3" name="Combine icon" descr="Combi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112" y="1922526"/>
            <a:ext cx="315468" cy="3154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046866" y="17373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5" name="Text 19"/>
          <p:cNvSpPr txBox="1"/>
          <p:nvPr/>
        </p:nvSpPr>
        <p:spPr>
          <a:xfrm>
            <a:off x="9400946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Combine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400946" y="30632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Title + headline TF-IDF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Plus 4 numeric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Joined with hstack</a:t>
            </a:r>
            <a:endParaRPr lang="en-US" sz="1400" dirty="0"/>
          </a:p>
        </p:txBody>
      </p:sp>
      <p:sp>
        <p:nvSpPr>
          <p:cNvPr id="27" name="Final Final train matrix"/>
          <p:cNvSpPr/>
          <p:nvPr/>
        </p:nvSpPr>
        <p:spPr>
          <a:xfrm>
            <a:off x="548640" y="4846320"/>
            <a:ext cx="5362956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68680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FINAL TRAIN MATRIX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868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74,588 × 50,004</a:t>
            </a:r>
            <a:endParaRPr lang="en-US" sz="2800" dirty="0"/>
          </a:p>
        </p:txBody>
      </p:sp>
      <p:sp>
        <p:nvSpPr>
          <p:cNvPr id="30" name="Final Final test matrix"/>
          <p:cNvSpPr/>
          <p:nvPr/>
        </p:nvSpPr>
        <p:spPr>
          <a:xfrm>
            <a:off x="6277356" y="4846320"/>
            <a:ext cx="5362956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6597396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FINAL TEST MATRIX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597396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18,647 × 50,004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Used</a:t>
            </a:r>
            <a:endParaRPr lang="en-US" sz="3600" dirty="0"/>
          </a:p>
        </p:txBody>
      </p:sp>
      <p:sp>
        <p:nvSpPr>
          <p:cNvPr id="3" name="Algorithm card 1"/>
          <p:cNvSpPr/>
          <p:nvPr/>
        </p:nvSpPr>
        <p:spPr>
          <a:xfrm>
            <a:off x="548640" y="1463040"/>
            <a:ext cx="536295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Linear Regression icon 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Linear Regression icon" descr="Linear Regress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92252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Linear Regression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76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Fits a straight-line relationship between the features and the target.</a:t>
            </a:r>
            <a:endParaRPr lang="en-US" sz="1400" dirty="0"/>
          </a:p>
        </p:txBody>
      </p:sp>
      <p:sp>
        <p:nvSpPr>
          <p:cNvPr id="8" name="Params 1"/>
          <p:cNvSpPr/>
          <p:nvPr/>
        </p:nvSpPr>
        <p:spPr>
          <a:xfrm>
            <a:off x="822960" y="2926080"/>
            <a:ext cx="4814316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29260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settings</a:t>
            </a:r>
            <a:endParaRPr lang="en-US" sz="1300" dirty="0"/>
          </a:p>
        </p:txBody>
      </p:sp>
      <p:sp>
        <p:nvSpPr>
          <p:cNvPr id="10" name="Algorithm card 2"/>
          <p:cNvSpPr/>
          <p:nvPr/>
        </p:nvSpPr>
        <p:spPr>
          <a:xfrm>
            <a:off x="6277356" y="1463040"/>
            <a:ext cx="536295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Decision Tree Regression icon circle"/>
          <p:cNvSpPr/>
          <p:nvPr/>
        </p:nvSpPr>
        <p:spPr>
          <a:xfrm>
            <a:off x="6551676" y="173736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Decision Tree Regression icon" descr="Decision Tree Regress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42" y="192252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66076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Decision Tree Regression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466076" y="2176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Splits the data into branches using simple feature rules.</a:t>
            </a:r>
            <a:endParaRPr lang="en-US" sz="1400" dirty="0"/>
          </a:p>
        </p:txBody>
      </p:sp>
      <p:sp>
        <p:nvSpPr>
          <p:cNvPr id="15" name="Params 2"/>
          <p:cNvSpPr/>
          <p:nvPr/>
        </p:nvSpPr>
        <p:spPr>
          <a:xfrm>
            <a:off x="6551676" y="2926080"/>
            <a:ext cx="4814316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734556" y="29260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= 10, min_samples_split = 10</a:t>
            </a:r>
            <a:endParaRPr lang="en-US" sz="1300" dirty="0"/>
          </a:p>
        </p:txBody>
      </p:sp>
      <p:sp>
        <p:nvSpPr>
          <p:cNvPr id="17" name="Algorithm card 3"/>
          <p:cNvSpPr/>
          <p:nvPr/>
        </p:nvSpPr>
        <p:spPr>
          <a:xfrm>
            <a:off x="548640" y="3931920"/>
            <a:ext cx="536295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Random Forest Regression icon circle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9" name="Random Forest Regression icon" descr="Random Forest Regress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4391406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3736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Random Forest Regression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1737360" y="4645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Averages many decision trees to reduce variance.</a:t>
            </a:r>
            <a:endParaRPr lang="en-US" sz="1400" dirty="0"/>
          </a:p>
        </p:txBody>
      </p:sp>
      <p:sp>
        <p:nvSpPr>
          <p:cNvPr id="22" name="Params 3"/>
          <p:cNvSpPr/>
          <p:nvPr/>
        </p:nvSpPr>
        <p:spPr>
          <a:xfrm>
            <a:off x="822960" y="5394960"/>
            <a:ext cx="4814316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1005840" y="53949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100, max_depth = 10, min_samples_split = 10</a:t>
            </a:r>
            <a:endParaRPr lang="en-US" sz="1300" dirty="0"/>
          </a:p>
        </p:txBody>
      </p:sp>
      <p:sp>
        <p:nvSpPr>
          <p:cNvPr id="24" name="Algorithm card 4"/>
          <p:cNvSpPr/>
          <p:nvPr/>
        </p:nvSpPr>
        <p:spPr>
          <a:xfrm>
            <a:off x="6277356" y="3931920"/>
            <a:ext cx="5362956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Gradient Boosting Regression icon circle"/>
          <p:cNvSpPr/>
          <p:nvPr/>
        </p:nvSpPr>
        <p:spPr>
          <a:xfrm>
            <a:off x="6551676" y="420624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6" name="Gradient Boosting Regression icon" descr="Gradient Boosting Regressio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42" y="4391406"/>
            <a:ext cx="315468" cy="3154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66076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Gradient Boosting Regression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7466076" y="4645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Builds trees one after another, each fixing earlier errors.</a:t>
            </a:r>
            <a:endParaRPr lang="en-US" sz="1400" dirty="0"/>
          </a:p>
        </p:txBody>
      </p:sp>
      <p:sp>
        <p:nvSpPr>
          <p:cNvPr id="29" name="Params 4"/>
          <p:cNvSpPr/>
          <p:nvPr/>
        </p:nvSpPr>
        <p:spPr>
          <a:xfrm>
            <a:off x="6551676" y="5394960"/>
            <a:ext cx="4814316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6734556" y="53949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100, learning_rate = 0.05, max_depth = 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Evaluation Metrics</a:t>
            </a:r>
            <a:endParaRPr lang="en-US" sz="3600" dirty="0"/>
          </a:p>
        </p:txBody>
      </p:sp>
      <p:sp>
        <p:nvSpPr>
          <p:cNvPr id="3" name="Metric card MAE"/>
          <p:cNvSpPr/>
          <p:nvPr/>
        </p:nvSpPr>
        <p:spPr>
          <a:xfrm>
            <a:off x="548640" y="1463040"/>
            <a:ext cx="2606040" cy="3429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Mean Absolute Error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size of the prediction errors, in the same units as the target.</a:t>
            </a:r>
            <a:endParaRPr lang="en-US" sz="1400" dirty="0"/>
          </a:p>
        </p:txBody>
      </p:sp>
      <p:sp>
        <p:nvSpPr>
          <p:cNvPr id="7" name="Tag MAE"/>
          <p:cNvSpPr/>
          <p:nvPr/>
        </p:nvSpPr>
        <p:spPr>
          <a:xfrm>
            <a:off x="822960" y="4206240"/>
            <a:ext cx="205740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Lower is better</a:t>
            </a:r>
            <a:endParaRPr lang="en-US" sz="1300" dirty="0"/>
          </a:p>
        </p:txBody>
      </p:sp>
      <p:sp>
        <p:nvSpPr>
          <p:cNvPr id="9" name="Metric card MSE"/>
          <p:cNvSpPr/>
          <p:nvPr/>
        </p:nvSpPr>
        <p:spPr>
          <a:xfrm>
            <a:off x="3407969" y="1463040"/>
            <a:ext cx="2606040" cy="3429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82289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682289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Mean Squared Error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82289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of squared errors; punishes large mistakes more heavily.</a:t>
            </a:r>
            <a:endParaRPr lang="en-US" sz="1400" dirty="0"/>
          </a:p>
        </p:txBody>
      </p:sp>
      <p:sp>
        <p:nvSpPr>
          <p:cNvPr id="13" name="Tag MSE"/>
          <p:cNvSpPr/>
          <p:nvPr/>
        </p:nvSpPr>
        <p:spPr>
          <a:xfrm>
            <a:off x="3682289" y="4206240"/>
            <a:ext cx="205740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82289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Lower is better</a:t>
            </a:r>
            <a:endParaRPr lang="en-US" sz="1300" dirty="0"/>
          </a:p>
        </p:txBody>
      </p:sp>
      <p:sp>
        <p:nvSpPr>
          <p:cNvPr id="15" name="Metric card RMSE"/>
          <p:cNvSpPr/>
          <p:nvPr/>
        </p:nvSpPr>
        <p:spPr>
          <a:xfrm>
            <a:off x="6267298" y="1463040"/>
            <a:ext cx="2606040" cy="3429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41618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541618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Root Mean Squared Error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41618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Square root of MSE; puts the error back in original units.</a:t>
            </a:r>
            <a:endParaRPr lang="en-US" sz="1400" dirty="0"/>
          </a:p>
        </p:txBody>
      </p:sp>
      <p:sp>
        <p:nvSpPr>
          <p:cNvPr id="19" name="Tag RMSE"/>
          <p:cNvSpPr/>
          <p:nvPr/>
        </p:nvSpPr>
        <p:spPr>
          <a:xfrm>
            <a:off x="6541618" y="4206240"/>
            <a:ext cx="205740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41618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Lower is better</a:t>
            </a:r>
            <a:endParaRPr lang="en-US" sz="1300" dirty="0"/>
          </a:p>
        </p:txBody>
      </p:sp>
      <p:sp>
        <p:nvSpPr>
          <p:cNvPr id="21" name="Metric card R²"/>
          <p:cNvSpPr/>
          <p:nvPr/>
        </p:nvSpPr>
        <p:spPr>
          <a:xfrm>
            <a:off x="9126626" y="1463040"/>
            <a:ext cx="2606040" cy="34290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400946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9400946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R-squared Score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00946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of the target’s variation the model explains; 1 is perfect.</a:t>
            </a:r>
            <a:endParaRPr lang="en-US" sz="1400" dirty="0"/>
          </a:p>
        </p:txBody>
      </p:sp>
      <p:sp>
        <p:nvSpPr>
          <p:cNvPr id="25" name="Tag R²"/>
          <p:cNvSpPr/>
          <p:nvPr/>
        </p:nvSpPr>
        <p:spPr>
          <a:xfrm>
            <a:off x="9400946" y="4206240"/>
            <a:ext cx="2057400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400946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Higher is better</a:t>
            </a:r>
            <a:endParaRPr lang="en-US" sz="1300" dirty="0"/>
          </a:p>
        </p:txBody>
      </p:sp>
      <p:sp>
        <p:nvSpPr>
          <p:cNvPr id="27" name="Metric note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arget icon circle"/>
          <p:cNvSpPr/>
          <p:nvPr/>
        </p:nvSpPr>
        <p:spPr>
          <a:xfrm>
            <a:off x="822960" y="5285232"/>
            <a:ext cx="585216" cy="585216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9" name="Target icon" descr="Targ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5443240"/>
            <a:ext cx="269199" cy="269199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645920" y="51663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All metrics are calculated on the 18,647-row test set by comparing y_test with each model’s predictions.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 Comparison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09728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Insight box"/>
          <p:cNvSpPr/>
          <p:nvPr/>
        </p:nvSpPr>
        <p:spPr>
          <a:xfrm>
            <a:off x="548640" y="4526280"/>
            <a:ext cx="685800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rophy icon circle"/>
          <p:cNvSpPr/>
          <p:nvPr/>
        </p:nvSpPr>
        <p:spPr>
          <a:xfrm>
            <a:off x="822960" y="4846320"/>
            <a:ext cx="822960" cy="8229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6" name="Trophy icon" descr="Troph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5068519"/>
            <a:ext cx="378562" cy="37856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20240" y="45720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Linear Regression has the lowest error on MAE, MSE and RMSE, and the highest R² of all four models.</a:t>
            </a:r>
            <a:endParaRPr lang="en-US" sz="1600" dirty="0"/>
          </a:p>
        </p:txBody>
      </p:sp>
      <p:sp>
        <p:nvSpPr>
          <p:cNvPr id="8" name="R2 chart card"/>
          <p:cNvSpPr/>
          <p:nvPr/>
        </p:nvSpPr>
        <p:spPr>
          <a:xfrm>
            <a:off x="7680960" y="1463040"/>
            <a:ext cx="3959352" cy="4526280"/>
          </a:xfrm>
          <a:prstGeom prst="roundRect">
            <a:avLst>
              <a:gd name="adj" fmla="val 27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9552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R² score by model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818120" y="210312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Best Model: Linear Regression</a:t>
            </a:r>
            <a:endParaRPr lang="en-US" sz="3600" dirty="0"/>
          </a:p>
        </p:txBody>
      </p:sp>
      <p:sp>
        <p:nvSpPr>
          <p:cNvPr id="3" name="Best metric MAE"/>
          <p:cNvSpPr/>
          <p:nvPr/>
        </p:nvSpPr>
        <p:spPr>
          <a:xfrm>
            <a:off x="548640" y="1508760"/>
            <a:ext cx="2587752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MAE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0.0810</a:t>
            </a:r>
            <a:endParaRPr lang="en-US" sz="4400" dirty="0"/>
          </a:p>
        </p:txBody>
      </p:sp>
      <p:sp>
        <p:nvSpPr>
          <p:cNvPr id="6" name="Best metric MSE"/>
          <p:cNvSpPr/>
          <p:nvPr/>
        </p:nvSpPr>
        <p:spPr>
          <a:xfrm>
            <a:off x="3383280" y="1508760"/>
            <a:ext cx="2587752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5760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MSE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0.0124</a:t>
            </a:r>
            <a:endParaRPr lang="en-US" sz="4400" dirty="0"/>
          </a:p>
        </p:txBody>
      </p:sp>
      <p:sp>
        <p:nvSpPr>
          <p:cNvPr id="9" name="Best metric RMSE"/>
          <p:cNvSpPr/>
          <p:nvPr/>
        </p:nvSpPr>
        <p:spPr>
          <a:xfrm>
            <a:off x="6217920" y="1508760"/>
            <a:ext cx="2587752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RMSE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0.1115</a:t>
            </a:r>
            <a:endParaRPr lang="en-US" sz="4400" dirty="0"/>
          </a:p>
        </p:txBody>
      </p:sp>
      <p:sp>
        <p:nvSpPr>
          <p:cNvPr id="12" name="Best metric R²"/>
          <p:cNvSpPr/>
          <p:nvPr/>
        </p:nvSpPr>
        <p:spPr>
          <a:xfrm>
            <a:off x="9052560" y="1508760"/>
            <a:ext cx="2587752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3268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R²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0.3301</a:t>
            </a:r>
            <a:endParaRPr lang="en-US" sz="4400" dirty="0"/>
          </a:p>
        </p:txBody>
      </p:sp>
      <p:sp>
        <p:nvSpPr>
          <p:cNvPr id="15" name="Meaning box"/>
          <p:cNvSpPr/>
          <p:nvPr/>
        </p:nvSpPr>
        <p:spPr>
          <a:xfrm>
            <a:off x="548640" y="3657600"/>
            <a:ext cx="11091672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Brain icon circle"/>
          <p:cNvSpPr/>
          <p:nvPr/>
        </p:nvSpPr>
        <p:spPr>
          <a:xfrm>
            <a:off x="868680" y="3977640"/>
            <a:ext cx="777240" cy="7772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Brain icon" descr="Brai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4187495"/>
            <a:ext cx="357530" cy="35753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92024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What this means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44348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model explains about 33% of the variation in title sentiment (R² = 0.3301).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Average prediction error is about 0.08 on a scale that runs from −1 to +1.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simple linear model beat the tree ensembles, likely because it suits sparse, high-dimensional TF-IDF text features.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akeaway 1"/>
          <p:cNvSpPr/>
          <p:nvPr/>
        </p:nvSpPr>
        <p:spPr>
          <a:xfrm>
            <a:off x="548640" y="1463040"/>
            <a:ext cx="6858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Number 1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54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Cleaned and prepared 93,235 news records with 11 columns.</a:t>
            </a:r>
            <a:endParaRPr lang="en-US" sz="1600" dirty="0"/>
          </a:p>
        </p:txBody>
      </p:sp>
      <p:sp>
        <p:nvSpPr>
          <p:cNvPr id="7" name="Takeaway 2"/>
          <p:cNvSpPr/>
          <p:nvPr/>
        </p:nvSpPr>
        <p:spPr>
          <a:xfrm>
            <a:off x="548640" y="2606040"/>
            <a:ext cx="6858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Number 2"/>
          <p:cNvSpPr/>
          <p:nvPr/>
        </p:nvSpPr>
        <p:spPr>
          <a:xfrm>
            <a:off x="822960" y="278892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697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Built 50,004 features from TF-IDF text and log-scaled share counts.</a:t>
            </a:r>
            <a:endParaRPr lang="en-US" sz="1600" dirty="0"/>
          </a:p>
        </p:txBody>
      </p:sp>
      <p:sp>
        <p:nvSpPr>
          <p:cNvPr id="11" name="Takeaway 3"/>
          <p:cNvSpPr/>
          <p:nvPr/>
        </p:nvSpPr>
        <p:spPr>
          <a:xfrm>
            <a:off x="548640" y="3749040"/>
            <a:ext cx="6858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Number 3"/>
          <p:cNvSpPr/>
          <p:nvPr/>
        </p:nvSpPr>
        <p:spPr>
          <a:xfrm>
            <a:off x="822960" y="393192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40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Compared four regression algorithms using MAE, MSE, RMSE and R².</a:t>
            </a:r>
            <a:endParaRPr lang="en-US" sz="1600" dirty="0"/>
          </a:p>
        </p:txBody>
      </p:sp>
      <p:sp>
        <p:nvSpPr>
          <p:cNvPr id="15" name="Takeaway 4"/>
          <p:cNvSpPr/>
          <p:nvPr/>
        </p:nvSpPr>
        <p:spPr>
          <a:xfrm>
            <a:off x="548640" y="4892040"/>
            <a:ext cx="6858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Number 4"/>
          <p:cNvSpPr/>
          <p:nvPr/>
        </p:nvSpPr>
        <p:spPr>
          <a:xfrm>
            <a:off x="822960" y="507492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983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Linear Regression performed best with R² = 0.3301 and RMSE = 0.1115.</a:t>
            </a:r>
            <a:endParaRPr lang="en-US" sz="1600" dirty="0"/>
          </a:p>
        </p:txBody>
      </p:sp>
      <p:sp>
        <p:nvSpPr>
          <p:cNvPr id="19" name="Future scope card"/>
          <p:cNvSpPr/>
          <p:nvPr/>
        </p:nvSpPr>
        <p:spPr>
          <a:xfrm>
            <a:off x="7680960" y="1463040"/>
            <a:ext cx="3959352" cy="4389120"/>
          </a:xfrm>
          <a:prstGeom prst="roundRect">
            <a:avLst>
              <a:gd name="adj" fmla="val 277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Rocket icon circle"/>
          <p:cNvSpPr/>
          <p:nvPr/>
        </p:nvSpPr>
        <p:spPr>
          <a:xfrm>
            <a:off x="8001000" y="1783080"/>
            <a:ext cx="731520" cy="7315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1" name="Rocket icon" descr="Roc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8510" y="1980590"/>
            <a:ext cx="336499" cy="336499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91540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283464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Try Ridge and Lasso regression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 Source and Topic as features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Use word embeddings or transformer models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Tune hyperparameters with cross-validation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er ring"/>
          <p:cNvSpPr/>
          <p:nvPr/>
        </p:nvSpPr>
        <p:spPr>
          <a:xfrm>
            <a:off x="8412480" y="1463040"/>
            <a:ext cx="3840480" cy="384048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635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3" name="Thanks circle"/>
          <p:cNvSpPr/>
          <p:nvPr/>
        </p:nvSpPr>
        <p:spPr>
          <a:xfrm>
            <a:off x="9052560" y="2103120"/>
            <a:ext cx="2560320" cy="2560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" name="Thanks icon" descr="Handshak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834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Any questions?</a:t>
            </a:r>
            <a:endParaRPr lang="en-US" sz="2400" dirty="0"/>
          </a:p>
        </p:txBody>
      </p:sp>
      <p:sp>
        <p:nvSpPr>
          <p:cNvPr id="7" name="Presenter box"/>
          <p:cNvSpPr/>
          <p:nvPr/>
        </p:nvSpPr>
        <p:spPr>
          <a:xfrm>
            <a:off x="731520" y="4297680"/>
            <a:ext cx="6583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51560" y="4480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ABINAYA S  ·  III BCA 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983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News Popularity in Multiple Social Media Platforms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sInk">
  <a:themeElements>
    <a:clrScheme name="NewsInk">
      <a:dk1>
        <a:srgbClr val="141A3C"/>
      </a:dk1>
      <a:lt1>
        <a:srgbClr val="FFFFFF"/>
      </a:lt1>
      <a:dk2>
        <a:srgbClr val="283071"/>
      </a:dk2>
      <a:lt2>
        <a:srgbClr val="EEF2F9"/>
      </a:lt2>
      <a:accent1>
        <a:srgbClr val="E4572E"/>
      </a:accent1>
      <a:accent2>
        <a:srgbClr val="1F7A8C"/>
      </a:accent2>
      <a:accent3>
        <a:srgbClr val="2B2D6E"/>
      </a:accent3>
      <a:accent4>
        <a:srgbClr val="F2A541"/>
      </a:accent4>
      <a:accent5>
        <a:srgbClr val="5F6B7A"/>
      </a:accent5>
      <a:accent6>
        <a:srgbClr val="3A9D5D"/>
      </a:accent6>
      <a:hlink>
        <a:srgbClr val="1F7A8C"/>
      </a:hlink>
      <a:folHlink>
        <a:srgbClr val="5F6B7A"/>
      </a:folHlink>
    </a:clrScheme>
    <a:fontScheme name="News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Popularity in Multiple Social Media Platforms</dc:title>
  <dc:subject>PptxGenJS Presentation</dc:subject>
  <dc:creator>ABINAYA S</dc:creator>
  <cp:lastModifiedBy>ABINAYA S</cp:lastModifiedBy>
  <cp:revision>1</cp:revision>
  <dcterms:created xsi:type="dcterms:W3CDTF">2026-10-09T08:35:46Z</dcterms:created>
  <dcterms:modified xsi:type="dcterms:W3CDTF">2026-10-09T08:35:46Z</dcterms:modified>
</cp:coreProperties>
</file>